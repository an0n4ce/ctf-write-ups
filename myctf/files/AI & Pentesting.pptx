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9" r:id="rId3"/>
    <p:sldId id="260" r:id="rId4"/>
    <p:sldId id="261" r:id="rId5"/>
    <p:sldId id="262" r:id="rId6"/>
    <p:sldId id="263" r:id="rId7"/>
    <p:sldId id="264" r:id="rId8"/>
    <p:sldId id="265" r:id="rId9"/>
    <p:sldId id="266" r:id="rId10"/>
    <p:sldId id="268" r:id="rId11"/>
    <p:sldId id="269" r:id="rId1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1">
                  <a:lumOff val="13543"/>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alpha val="63790"/>
            </a:srgbClr>
          </a:solidFill>
        </a:fill>
      </a:tcStyle>
    </a:band2H>
    <a:firstCol>
      <a:tcTxStyle b="off" i="off">
        <a:font>
          <a:latin typeface="Helvetica Neue Medium"/>
          <a:ea typeface="Helvetica Neue Medium"/>
          <a:cs typeface="Helvetica Neue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09D00"/>
          </a:solidFill>
        </a:fill>
      </a:tcStyle>
    </a:firstCol>
    <a:lastRow>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Helvetica Neue Medium"/>
          <a:ea typeface="Helvetica Neue Medium"/>
          <a:cs typeface="Helvetica Neue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27002"/>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alpha val="63790"/>
            </a:srgb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E3E5E8"/>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62727"/>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42424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snapToGrid="0">
      <p:cViewPr varScale="1">
        <p:scale>
          <a:sx n="39" d="100"/>
          <a:sy n="39" d="100"/>
        </p:scale>
        <p:origin x="883" y="8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6498" y="11839048"/>
            <a:ext cx="21971003" cy="636979"/>
          </a:xfrm>
          <a:prstGeom prst="rect">
            <a:avLst/>
          </a:prstGeom>
        </p:spPr>
        <p:txBody>
          <a:bodyPr lIns="45719" tIns="45719" rIns="45719" bIns="45719" anchor="b"/>
          <a:lstStyle>
            <a:lvl1pPr marL="0" indent="0" defTabSz="825500">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6500" y="7196865"/>
            <a:ext cx="21971000" cy="1905001"/>
          </a:xfrm>
          <a:prstGeom prst="rect">
            <a:avLst/>
          </a:prstGeom>
        </p:spPr>
        <p:txBody>
          <a:bodyPr/>
          <a:lstStyle>
            <a:lvl1pPr marL="0" indent="0" defTabSz="825500">
              <a:spcBef>
                <a:spcPts val="0"/>
              </a:spcBef>
              <a:buSzTx/>
              <a:buNone/>
              <a:defRPr sz="5500" b="1"/>
            </a:lvl1pPr>
            <a:lvl2pPr marL="0" indent="457200" defTabSz="825500">
              <a:spcBef>
                <a:spcPts val="0"/>
              </a:spcBef>
              <a:buSzTx/>
              <a:buNone/>
              <a:defRPr sz="5500" b="1"/>
            </a:lvl2pPr>
            <a:lvl3pPr marL="0" indent="914400" defTabSz="825500">
              <a:spcBef>
                <a:spcPts val="0"/>
              </a:spcBef>
              <a:buSzTx/>
              <a:buNone/>
              <a:defRPr sz="5500" b="1"/>
            </a:lvl3pPr>
            <a:lvl4pPr marL="0" indent="1371600" defTabSz="825500">
              <a:spcBef>
                <a:spcPts val="0"/>
              </a:spcBef>
              <a:buSzTx/>
              <a:buNone/>
              <a:defRPr sz="5500" b="1"/>
            </a:lvl4pPr>
            <a:lvl5pPr marL="0" indent="1828800" defTabSz="825500">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2007748" y="13080999"/>
            <a:ext cx="368504"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Green, hilly landscape"/>
          <p:cNvSpPr>
            <a:spLocks noGrp="1"/>
          </p:cNvSpPr>
          <p:nvPr>
            <p:ph type="pic" idx="21"/>
          </p:nvPr>
        </p:nvSpPr>
        <p:spPr>
          <a:xfrm>
            <a:off x="-431800" y="-4038600"/>
            <a:ext cx="29464000" cy="18034000"/>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44688"/>
          </a:xfrm>
          <a:prstGeom prst="rect">
            <a:avLst/>
          </a:prstGeom>
        </p:spPr>
        <p:txBody>
          <a:bodyPr/>
          <a:lstStyle>
            <a:lvl1pPr marL="0" indent="0" defTabSz="825500">
              <a:spcBef>
                <a:spcPts val="0"/>
              </a:spcBef>
              <a:buSzTx/>
              <a:buNone/>
              <a:defRPr sz="5500" b="1"/>
            </a:lvl1pPr>
            <a:lvl2pPr marL="0" indent="457200" defTabSz="825500">
              <a:spcBef>
                <a:spcPts val="0"/>
              </a:spcBef>
              <a:buSzTx/>
              <a:buNone/>
              <a:defRPr sz="5500" b="1"/>
            </a:lvl2pPr>
            <a:lvl3pPr marL="0" indent="914400" defTabSz="825500">
              <a:spcBef>
                <a:spcPts val="0"/>
              </a:spcBef>
              <a:buSzTx/>
              <a:buNone/>
              <a:defRPr sz="5500" b="1"/>
            </a:lvl3pPr>
            <a:lvl4pPr marL="0" indent="1371600" defTabSz="825500">
              <a:spcBef>
                <a:spcPts val="0"/>
              </a:spcBef>
              <a:buSzTx/>
              <a:buNone/>
              <a:defRPr sz="5500" b="1"/>
            </a:lvl4pPr>
            <a:lvl5pPr marL="0" indent="1828800" defTabSz="825500">
              <a:spcBef>
                <a:spcPts val="0"/>
              </a:spcBef>
              <a:buSzTx/>
              <a:buNone/>
              <a:defRPr sz="5500" b="1"/>
            </a:lvl5pPr>
          </a:lstStyle>
          <a:p>
            <a:r>
              <a:t>Presentation Subtitle </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3" name="Body Level One…"/>
          <p:cNvSpPr txBox="1">
            <a:spLocks noGrp="1"/>
          </p:cNvSpPr>
          <p:nvPr>
            <p:ph type="body" sz="quarter" idx="1" hasCustomPrompt="1"/>
          </p:nvPr>
        </p:nvSpPr>
        <p:spPr>
          <a:xfrm>
            <a:off x="1206500" y="7060576"/>
            <a:ext cx="9779000" cy="5382403"/>
          </a:xfrm>
          <a:prstGeom prst="rect">
            <a:avLst/>
          </a:prstGeom>
        </p:spPr>
        <p:txBody>
          <a:bodyPr/>
          <a:lstStyle>
            <a:lvl1pPr marL="0" indent="0" defTabSz="825500">
              <a:spcBef>
                <a:spcPts val="0"/>
              </a:spcBef>
              <a:buSzTx/>
              <a:buNone/>
              <a:defRPr sz="5500" b="1"/>
            </a:lvl1pPr>
            <a:lvl2pPr marL="0" indent="457200" defTabSz="825500">
              <a:spcBef>
                <a:spcPts val="0"/>
              </a:spcBef>
              <a:buSzTx/>
              <a:buNone/>
              <a:defRPr sz="5500" b="1"/>
            </a:lvl2pPr>
            <a:lvl3pPr marL="0" indent="914400" defTabSz="825500">
              <a:spcBef>
                <a:spcPts val="0"/>
              </a:spcBef>
              <a:buSzTx/>
              <a:buNone/>
              <a:defRPr sz="5500" b="1"/>
            </a:lvl3pPr>
            <a:lvl4pPr marL="0" indent="1371600" defTabSz="825500">
              <a:spcBef>
                <a:spcPts val="0"/>
              </a:spcBef>
              <a:buSzTx/>
              <a:buNone/>
              <a:defRPr sz="5500" b="1"/>
            </a:lvl4pPr>
            <a:lvl5pPr marL="0" indent="1828800" defTabSz="825500">
              <a:spcBef>
                <a:spcPts val="0"/>
              </a:spcBef>
              <a:buSzTx/>
              <a:buNone/>
              <a:defRPr sz="5500" b="1"/>
            </a:lvl5pPr>
          </a:lstStyle>
          <a:p>
            <a:r>
              <a:t>Slide Subtitle</a:t>
            </a:r>
          </a:p>
          <a:p>
            <a:pPr lvl="1"/>
            <a:endParaRPr/>
          </a:p>
          <a:p>
            <a:pPr lvl="2"/>
            <a:endParaRPr/>
          </a:p>
          <a:p>
            <a:pPr lvl="3"/>
            <a:endParaRPr/>
          </a:p>
          <a:p>
            <a:pPr lvl="4"/>
            <a:endParaRPr/>
          </a:p>
        </p:txBody>
      </p:sp>
      <p:sp>
        <p:nvSpPr>
          <p:cNvPr id="34" name="Moss-covered rocks"/>
          <p:cNvSpPr>
            <a:spLocks noGrp="1"/>
          </p:cNvSpPr>
          <p:nvPr>
            <p:ph type="pic" sz="half" idx="21"/>
          </p:nvPr>
        </p:nvSpPr>
        <p:spPr>
          <a:xfrm>
            <a:off x="12052303" y="1270000"/>
            <a:ext cx="11188406" cy="11209889"/>
          </a:xfrm>
          <a:prstGeom prst="rect">
            <a:avLst/>
          </a:prstGeom>
        </p:spPr>
        <p:txBody>
          <a:bodyPr lIns="91439" tIns="45719" rIns="91439" bIns="45719">
            <a:noAutofit/>
          </a:bodyPr>
          <a:lstStyle/>
          <a:p>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1206500" y="952500"/>
            <a:ext cx="21971000" cy="1434949"/>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spcBef>
                <a:spcPts val="0"/>
              </a:spcBef>
              <a:buSzTx/>
              <a:buNone/>
              <a:defRPr sz="5500" b="1"/>
            </a:lvl1pPr>
          </a:lstStyle>
          <a:p>
            <a:r>
              <a:t>Slide Subtitle</a:t>
            </a:r>
          </a:p>
        </p:txBody>
      </p:sp>
      <p:sp>
        <p:nvSpPr>
          <p:cNvPr id="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1206500" y="952500"/>
            <a:ext cx="21971000" cy="143510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spcBef>
                <a:spcPts val="0"/>
              </a:spcBef>
              <a:buSzTx/>
              <a:buNone/>
              <a:defRPr sz="5500" b="1"/>
            </a:lvl1pPr>
          </a:lstStyle>
          <a:p>
            <a:r>
              <a:t>Agenda Subtitle</a:t>
            </a:r>
          </a:p>
        </p:txBody>
      </p:sp>
      <p:sp>
        <p:nvSpPr>
          <p:cNvPr id="90" name="Body Level One…"/>
          <p:cNvSpPr txBox="1">
            <a:spLocks noGrp="1"/>
          </p:cNvSpPr>
          <p:nvPr>
            <p:ph type="body" idx="1" hasCustomPrompt="1"/>
          </p:nvPr>
        </p:nvSpPr>
        <p:spPr>
          <a:prstGeom prst="rect">
            <a:avLst/>
          </a:prstGeom>
        </p:spPr>
        <p:txBody>
          <a:bodyPr/>
          <a:lstStyle>
            <a:lvl1pPr marL="0" indent="0" defTabSz="825500">
              <a:spcBef>
                <a:spcPts val="1800"/>
              </a:spcBef>
              <a:buSzTx/>
              <a:buNone/>
              <a:defRPr sz="5500" spc="-55"/>
            </a:lvl1pPr>
            <a:lvl2pPr marL="0" indent="457200" defTabSz="825500">
              <a:spcBef>
                <a:spcPts val="1800"/>
              </a:spcBef>
              <a:buSzTx/>
              <a:buNone/>
              <a:defRPr sz="5500" spc="-55"/>
            </a:lvl2pPr>
            <a:lvl3pPr marL="0" indent="914400" defTabSz="825500">
              <a:spcBef>
                <a:spcPts val="1800"/>
              </a:spcBef>
              <a:buSzTx/>
              <a:buNone/>
              <a:defRPr sz="5500" spc="-55"/>
            </a:lvl3pPr>
            <a:lvl4pPr marL="0" indent="1371600" defTabSz="825500">
              <a:spcBef>
                <a:spcPts val="1800"/>
              </a:spcBef>
              <a:buSzTx/>
              <a:buNone/>
              <a:defRPr sz="5500" spc="-55"/>
            </a:lvl4pPr>
            <a:lvl5pPr marL="0" indent="1828800" defTabSz="825500">
              <a:spcBef>
                <a:spcPts val="1800"/>
              </a:spcBef>
              <a:buSzTx/>
              <a:buNone/>
              <a:defRPr sz="5500" spc="-55"/>
            </a:lvl5pPr>
          </a:lstStyle>
          <a:p>
            <a:r>
              <a:t>Agenda Topics</a:t>
            </a:r>
          </a:p>
          <a:p>
            <a:pPr lvl="1"/>
            <a:endParaRPr/>
          </a:p>
          <a:p>
            <a:pPr lvl="2"/>
            <a:endParaRPr/>
          </a:p>
          <a:p>
            <a:pPr lvl="3"/>
            <a:endParaRPr/>
          </a:p>
          <a:p>
            <a:pPr lvl="4"/>
            <a:endParaRPr/>
          </a:p>
        </p:txBody>
      </p:sp>
      <p:sp>
        <p:nvSpPr>
          <p:cNvPr id="9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9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6"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spcBef>
                <a:spcPts val="0"/>
              </a:spcBef>
              <a:buSzTx/>
              <a:buNone/>
              <a:defRPr sz="5500" b="1"/>
            </a:lvl1pPr>
          </a:lstStyle>
          <a:p>
            <a:r>
              <a:t>Fact information</a:t>
            </a:r>
          </a:p>
        </p:txBody>
      </p:sp>
      <p:sp>
        <p:nvSpPr>
          <p:cNvPr id="107" name="Body Level One…"/>
          <p:cNvSpPr txBox="1">
            <a:spLocks noGrp="1"/>
          </p:cNvSpPr>
          <p:nvPr>
            <p:ph type="body" idx="1" hasCustomPrompt="1"/>
          </p:nvPr>
        </p:nvSpPr>
        <p:spPr>
          <a:xfrm>
            <a:off x="1206500" y="935258"/>
            <a:ext cx="21971000" cy="7359063"/>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spcBef>
                <a:spcPts val="0"/>
              </a:spcBef>
              <a:buSzTx/>
              <a:buNone/>
              <a:defRPr sz="3600" b="1"/>
            </a:lvl1pPr>
          </a:lstStyle>
          <a:p>
            <a:r>
              <a:t>Attribution</a:t>
            </a:r>
          </a:p>
        </p:txBody>
      </p:sp>
      <p:sp>
        <p:nvSpPr>
          <p:cNvPr id="116" name="Body Level One…"/>
          <p:cNvSpPr txBox="1">
            <a:spLocks noGrp="1"/>
          </p:cNvSpPr>
          <p:nvPr>
            <p:ph type="body" sz="half" idx="1" hasCustomPrompt="1"/>
          </p:nvPr>
        </p:nvSpPr>
        <p:spPr>
          <a:xfrm>
            <a:off x="1753923" y="4939860"/>
            <a:ext cx="20876154" cy="3836280"/>
          </a:xfrm>
          <a:prstGeom prst="rect">
            <a:avLst/>
          </a:prstGeom>
        </p:spPr>
        <p:txBody>
          <a:bodyPr anchor="ctr"/>
          <a:lstStyle>
            <a:lvl1pPr marL="638923" indent="-469900">
              <a:lnSpc>
                <a:spcPct val="90000"/>
              </a:lnSpc>
              <a:spcBef>
                <a:spcPts val="0"/>
              </a:spcBef>
              <a:buSzTx/>
              <a:buNone/>
              <a:defRPr sz="8500" spc="-170">
                <a:latin typeface="Helvetica Neue Medium"/>
                <a:ea typeface="Helvetica Neue Medium"/>
                <a:cs typeface="Helvetica Neue Medium"/>
                <a:sym typeface="Helvetica Neue Medium"/>
              </a:defRPr>
            </a:lvl1pPr>
            <a:lvl2pPr marL="638923" indent="-12700">
              <a:lnSpc>
                <a:spcPct val="90000"/>
              </a:lnSpc>
              <a:spcBef>
                <a:spcPts val="0"/>
              </a:spcBef>
              <a:buSzTx/>
              <a:buNone/>
              <a:defRPr sz="8500" spc="-170">
                <a:latin typeface="Helvetica Neue Medium"/>
                <a:ea typeface="Helvetica Neue Medium"/>
                <a:cs typeface="Helvetica Neue Medium"/>
                <a:sym typeface="Helvetica Neue Medium"/>
              </a:defRPr>
            </a:lvl2pPr>
            <a:lvl3pPr marL="638923" indent="444500">
              <a:lnSpc>
                <a:spcPct val="90000"/>
              </a:lnSpc>
              <a:spcBef>
                <a:spcPts val="0"/>
              </a:spcBef>
              <a:buSzTx/>
              <a:buNone/>
              <a:defRPr sz="8500" spc="-170">
                <a:latin typeface="Helvetica Neue Medium"/>
                <a:ea typeface="Helvetica Neue Medium"/>
                <a:cs typeface="Helvetica Neue Medium"/>
                <a:sym typeface="Helvetica Neue Medium"/>
              </a:defRPr>
            </a:lvl3pPr>
            <a:lvl4pPr marL="638923" indent="901700">
              <a:lnSpc>
                <a:spcPct val="90000"/>
              </a:lnSpc>
              <a:spcBef>
                <a:spcPts val="0"/>
              </a:spcBef>
              <a:buSzTx/>
              <a:buNone/>
              <a:defRPr sz="8500" spc="-170">
                <a:latin typeface="Helvetica Neue Medium"/>
                <a:ea typeface="Helvetica Neue Medium"/>
                <a:cs typeface="Helvetica Neue Medium"/>
                <a:sym typeface="Helvetica Neue Medium"/>
              </a:defRPr>
            </a:lvl4pPr>
            <a:lvl5pPr marL="638923" indent="1358900">
              <a:lnSpc>
                <a:spcPct val="90000"/>
              </a:lnSpc>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Close-up of wild plants growing between rocks"/>
          <p:cNvSpPr>
            <a:spLocks noGrp="1"/>
          </p:cNvSpPr>
          <p:nvPr>
            <p:ph type="pic" sz="quarter" idx="21"/>
          </p:nvPr>
        </p:nvSpPr>
        <p:spPr>
          <a:xfrm>
            <a:off x="15430500" y="7085409"/>
            <a:ext cx="8128000" cy="5410201"/>
          </a:xfrm>
          <a:prstGeom prst="rect">
            <a:avLst/>
          </a:prstGeom>
        </p:spPr>
        <p:txBody>
          <a:bodyPr lIns="91439" tIns="45719" rIns="91439" bIns="45719">
            <a:noAutofit/>
          </a:bodyPr>
          <a:lstStyle/>
          <a:p>
            <a:endParaRPr/>
          </a:p>
        </p:txBody>
      </p:sp>
      <p:sp>
        <p:nvSpPr>
          <p:cNvPr id="125" name="Large rock formation under dark clouds with a dirt road in the foreground"/>
          <p:cNvSpPr>
            <a:spLocks noGrp="1"/>
          </p:cNvSpPr>
          <p:nvPr>
            <p:ph type="pic" idx="22"/>
          </p:nvPr>
        </p:nvSpPr>
        <p:spPr>
          <a:xfrm>
            <a:off x="-2933700" y="1270000"/>
            <a:ext cx="22699133" cy="11277600"/>
          </a:xfrm>
          <a:prstGeom prst="rect">
            <a:avLst/>
          </a:prstGeom>
        </p:spPr>
        <p:txBody>
          <a:bodyPr lIns="91439" tIns="45719" rIns="91439" bIns="45719">
            <a:noAutofit/>
          </a:bodyPr>
          <a:lstStyle/>
          <a:p>
            <a:endParaRPr/>
          </a:p>
        </p:txBody>
      </p:sp>
      <p:sp>
        <p:nvSpPr>
          <p:cNvPr id="126" name="Close-up of a wild plant growing between lava rocks"/>
          <p:cNvSpPr>
            <a:spLocks noGrp="1"/>
          </p:cNvSpPr>
          <p:nvPr>
            <p:ph type="pic" sz="quarter" idx="23"/>
          </p:nvPr>
        </p:nvSpPr>
        <p:spPr>
          <a:xfrm>
            <a:off x="15430500" y="1270000"/>
            <a:ext cx="8128000" cy="5410200"/>
          </a:xfrm>
          <a:prstGeom prst="rect">
            <a:avLst/>
          </a:prstGeom>
        </p:spPr>
        <p:txBody>
          <a:bodyPr lIns="91439" tIns="45719" rIns="91439" bIns="45719">
            <a:noAutofit/>
          </a:bodyPr>
          <a:lstStyle/>
          <a:p>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waterfall surrounded by a green rocky landscape"/>
          <p:cNvSpPr>
            <a:spLocks noGrp="1"/>
          </p:cNvSpPr>
          <p:nvPr>
            <p:ph type="pic" idx="21"/>
          </p:nvPr>
        </p:nvSpPr>
        <p:spPr>
          <a:xfrm>
            <a:off x="-1511300" y="-3721100"/>
            <a:ext cx="28511500" cy="19030242"/>
          </a:xfrm>
          <a:prstGeom prst="rect">
            <a:avLst/>
          </a:prstGeom>
        </p:spPr>
        <p:txBody>
          <a:bodyPr lIns="91439" tIns="45719" rIns="91439" bIns="45719">
            <a:noAutofit/>
          </a:bodyPr>
          <a:lstStyle/>
          <a:p>
            <a:endParaRPr/>
          </a:p>
        </p:txBody>
      </p:sp>
      <p:sp>
        <p:nvSpPr>
          <p:cNvPr id="1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FFFFFF"/>
          </a:solidFill>
          <a:uFillTx/>
          <a:latin typeface="+mn-lt"/>
          <a:ea typeface="+mn-ea"/>
          <a:cs typeface="+mn-cs"/>
          <a:sym typeface="Helvetica Neue"/>
        </a:defRPr>
      </a:lvl9pPr>
    </p:titleStyle>
    <p:bodyStyle>
      <a:lvl1pPr marL="6096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1pPr>
      <a:lvl2pPr marL="12192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2pPr>
      <a:lvl3pPr marL="18288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3pPr>
      <a:lvl4pPr marL="24384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4pPr>
      <a:lvl5pPr marL="30480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5pPr>
      <a:lvl6pPr marL="36576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6pPr>
      <a:lvl7pPr marL="42672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7pPr>
      <a:lvl8pPr marL="48768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8pPr>
      <a:lvl9pPr marL="54864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FFFFFF"/>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Large_language_model" TargetMode="External"/><Relationship Id="rId2" Type="http://schemas.openxmlformats.org/officeDocument/2006/relationships/hyperlink" Target="https://github.com/GreyDGL/PentestGPT"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AI &amp; Penetration Testing"/>
          <p:cNvSpPr txBox="1">
            <a:spLocks noGrp="1"/>
          </p:cNvSpPr>
          <p:nvPr>
            <p:ph type="ctrTitle"/>
          </p:nvPr>
        </p:nvSpPr>
        <p:spPr>
          <a:xfrm>
            <a:off x="1206498" y="4378854"/>
            <a:ext cx="21971004" cy="1905001"/>
          </a:xfrm>
          <a:prstGeom prst="rect">
            <a:avLst/>
          </a:prstGeom>
        </p:spPr>
        <p:txBody>
          <a:bodyPr/>
          <a:lstStyle/>
          <a:p>
            <a:r>
              <a:rPr dirty="0"/>
              <a:t>AI &amp; Penetration Testing</a:t>
            </a:r>
          </a:p>
        </p:txBody>
      </p:sp>
      <p:sp>
        <p:nvSpPr>
          <p:cNvPr id="153" name="AI is going to take over the world anyways,…"/>
          <p:cNvSpPr txBox="1">
            <a:spLocks noGrp="1"/>
          </p:cNvSpPr>
          <p:nvPr>
            <p:ph type="subTitle" sz="quarter" idx="1"/>
          </p:nvPr>
        </p:nvSpPr>
        <p:spPr>
          <a:xfrm>
            <a:off x="1206501" y="6257528"/>
            <a:ext cx="21971001" cy="1905001"/>
          </a:xfrm>
          <a:prstGeom prst="rect">
            <a:avLst/>
          </a:prstGeom>
        </p:spPr>
        <p:txBody>
          <a:bodyPr/>
          <a:lstStyle/>
          <a:p>
            <a:r>
              <a:rPr dirty="0"/>
              <a:t>AI is going to take over the world anyways, </a:t>
            </a:r>
          </a:p>
          <a:p>
            <a:r>
              <a:rPr dirty="0"/>
              <a:t>might as well learn how</a:t>
            </a:r>
          </a:p>
        </p:txBody>
      </p:sp>
      <p:sp>
        <p:nvSpPr>
          <p:cNvPr id="3" name="TextBox 2">
            <a:extLst>
              <a:ext uri="{FF2B5EF4-FFF2-40B4-BE49-F238E27FC236}">
                <a16:creationId xmlns:a16="http://schemas.microsoft.com/office/drawing/2014/main" id="{491140BC-468C-87B3-9D7D-1BB3168DD684}"/>
              </a:ext>
            </a:extLst>
          </p:cNvPr>
          <p:cNvSpPr txBox="1"/>
          <p:nvPr/>
        </p:nvSpPr>
        <p:spPr>
          <a:xfrm>
            <a:off x="13914782" y="9768255"/>
            <a:ext cx="8647043" cy="25648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IN" sz="3600" i="0" u="none" strike="noStrike" cap="none" spc="0" normalizeH="0" baseline="0" dirty="0">
                <a:ln>
                  <a:noFill/>
                </a:ln>
                <a:solidFill>
                  <a:srgbClr val="FFFFFF"/>
                </a:solidFill>
                <a:effectLst/>
                <a:uFillTx/>
                <a:latin typeface="+mn-lt"/>
                <a:ea typeface="+mn-ea"/>
                <a:cs typeface="+mn-cs"/>
                <a:sym typeface="Helvetica Neue"/>
              </a:rPr>
              <a:t>#whoami</a:t>
            </a:r>
          </a:p>
          <a:p>
            <a:pPr marL="0" marR="0" indent="0" algn="l" defTabSz="2438338" rtl="0" fontAlgn="auto" latinLnBrk="0" hangingPunct="0">
              <a:lnSpc>
                <a:spcPct val="100000"/>
              </a:lnSpc>
              <a:spcBef>
                <a:spcPts val="0"/>
              </a:spcBef>
              <a:spcAft>
                <a:spcPts val="0"/>
              </a:spcAft>
              <a:buClrTx/>
              <a:buSzTx/>
              <a:buFontTx/>
              <a:buNone/>
              <a:tabLst/>
            </a:pPr>
            <a:r>
              <a:rPr kumimoji="0" lang="en-IN" sz="4000" i="0" u="none" strike="noStrike" cap="none" spc="0" normalizeH="0" baseline="0" dirty="0">
                <a:ln>
                  <a:noFill/>
                </a:ln>
                <a:solidFill>
                  <a:srgbClr val="FFFFFF"/>
                </a:solidFill>
                <a:effectLst/>
                <a:uFillTx/>
                <a:latin typeface="+mn-lt"/>
                <a:ea typeface="+mn-ea"/>
                <a:cs typeface="+mn-cs"/>
                <a:sym typeface="Helvetica Neue"/>
              </a:rPr>
              <a:t>Vishnu Sudhakaran</a:t>
            </a:r>
          </a:p>
          <a:p>
            <a:pPr marL="0" marR="0" indent="0" algn="l" defTabSz="2438338" rtl="0" fontAlgn="auto" latinLnBrk="0" hangingPunct="0">
              <a:lnSpc>
                <a:spcPct val="100000"/>
              </a:lnSpc>
              <a:spcBef>
                <a:spcPts val="0"/>
              </a:spcBef>
              <a:spcAft>
                <a:spcPts val="0"/>
              </a:spcAft>
              <a:buClrTx/>
              <a:buSzTx/>
              <a:buFontTx/>
              <a:buNone/>
              <a:tabLst/>
            </a:pPr>
            <a:r>
              <a:rPr lang="en-IN" sz="4000" dirty="0"/>
              <a:t>Associate Consultant - </a:t>
            </a:r>
            <a:r>
              <a:rPr lang="en-IN" sz="4000" dirty="0" err="1"/>
              <a:t>WarLabs</a:t>
            </a:r>
            <a:endParaRPr lang="en-IN" sz="4000" dirty="0"/>
          </a:p>
          <a:p>
            <a:pPr marL="0" marR="0" indent="0" algn="l" defTabSz="2438338" rtl="0" fontAlgn="auto" latinLnBrk="0" hangingPunct="0">
              <a:lnSpc>
                <a:spcPct val="100000"/>
              </a:lnSpc>
              <a:spcBef>
                <a:spcPts val="0"/>
              </a:spcBef>
              <a:spcAft>
                <a:spcPts val="0"/>
              </a:spcAft>
              <a:buClrTx/>
              <a:buSzTx/>
              <a:buFontTx/>
              <a:buNone/>
              <a:tabLst/>
            </a:pPr>
            <a:r>
              <a:rPr kumimoji="0" lang="en-IN" sz="4000" i="0" u="none" strike="noStrike" cap="none" spc="0" normalizeH="0" baseline="0" dirty="0">
                <a:ln>
                  <a:noFill/>
                </a:ln>
                <a:solidFill>
                  <a:srgbClr val="FFFFFF"/>
                </a:solidFill>
                <a:effectLst/>
                <a:uFillTx/>
                <a:latin typeface="+mn-lt"/>
                <a:ea typeface="+mn-ea"/>
                <a:cs typeface="+mn-cs"/>
                <a:sym typeface="Helvetica Neue"/>
              </a:rPr>
              <a:t>SISA InfoSec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What are we going to look at…"/>
          <p:cNvSpPr txBox="1">
            <a:spLocks noGrp="1"/>
          </p:cNvSpPr>
          <p:nvPr>
            <p:ph type="title"/>
          </p:nvPr>
        </p:nvSpPr>
        <p:spPr>
          <a:xfrm>
            <a:off x="7302500" y="1478459"/>
            <a:ext cx="10990962" cy="2284399"/>
          </a:xfrm>
          <a:prstGeom prst="rect">
            <a:avLst/>
          </a:prstGeom>
        </p:spPr>
        <p:txBody>
          <a:bodyPr/>
          <a:lstStyle/>
          <a:p>
            <a:pPr algn="ctr" defTabSz="1853137">
              <a:lnSpc>
                <a:spcPct val="120000"/>
              </a:lnSpc>
              <a:defRPr sz="6460" spc="-129"/>
            </a:pPr>
            <a:r>
              <a:t>What are we going to look at </a:t>
            </a:r>
          </a:p>
          <a:p>
            <a:pPr algn="ctr" defTabSz="1853137">
              <a:defRPr sz="6460" spc="-129"/>
            </a:pPr>
            <a:r>
              <a:t>In this session?</a:t>
            </a:r>
          </a:p>
        </p:txBody>
      </p:sp>
      <p:sp>
        <p:nvSpPr>
          <p:cNvPr id="165" name="What are LLMs?…"/>
          <p:cNvSpPr txBox="1">
            <a:spLocks noGrp="1"/>
          </p:cNvSpPr>
          <p:nvPr>
            <p:ph type="body" sz="half" idx="1"/>
          </p:nvPr>
        </p:nvSpPr>
        <p:spPr>
          <a:xfrm>
            <a:off x="5192189" y="4544073"/>
            <a:ext cx="14267507" cy="7780592"/>
          </a:xfrm>
          <a:prstGeom prst="rect">
            <a:avLst/>
          </a:prstGeom>
        </p:spPr>
        <p:txBody>
          <a:bodyPr/>
          <a:lstStyle/>
          <a:p>
            <a:pPr marL="888999" indent="-888999">
              <a:lnSpc>
                <a:spcPct val="150000"/>
              </a:lnSpc>
              <a:buSzPct val="100000"/>
              <a:buAutoNum type="arabicPeriod"/>
              <a:defRPr sz="4800" b="0"/>
            </a:pPr>
            <a:r>
              <a:rPr dirty="0"/>
              <a:t>What are LLMs?</a:t>
            </a:r>
          </a:p>
          <a:p>
            <a:pPr marL="888999" indent="-888999">
              <a:lnSpc>
                <a:spcPct val="150000"/>
              </a:lnSpc>
              <a:buSzPct val="100000"/>
              <a:buAutoNum type="arabicPeriod"/>
              <a:defRPr sz="4800" b="0"/>
            </a:pPr>
            <a:r>
              <a:rPr dirty="0"/>
              <a:t>What is </a:t>
            </a:r>
            <a:r>
              <a:rPr dirty="0" err="1"/>
              <a:t>Pentesting</a:t>
            </a:r>
            <a:r>
              <a:rPr dirty="0"/>
              <a:t> &amp; Need of LLMs in </a:t>
            </a:r>
            <a:r>
              <a:rPr dirty="0" err="1"/>
              <a:t>Pentesting</a:t>
            </a:r>
            <a:r>
              <a:rPr dirty="0"/>
              <a:t>?</a:t>
            </a:r>
          </a:p>
          <a:p>
            <a:pPr marL="888999" indent="-888999">
              <a:lnSpc>
                <a:spcPct val="150000"/>
              </a:lnSpc>
              <a:buSzPct val="100000"/>
              <a:buAutoNum type="arabicPeriod"/>
              <a:defRPr sz="4800" b="0"/>
            </a:pPr>
            <a:r>
              <a:rPr dirty="0"/>
              <a:t>Intro to </a:t>
            </a:r>
            <a:r>
              <a:rPr dirty="0" err="1"/>
              <a:t>PentestGPT</a:t>
            </a:r>
            <a:endParaRPr dirty="0"/>
          </a:p>
          <a:p>
            <a:pPr marL="888999" indent="-888999">
              <a:lnSpc>
                <a:spcPct val="150000"/>
              </a:lnSpc>
              <a:buSzPct val="100000"/>
              <a:buAutoNum type="arabicPeriod"/>
              <a:defRPr sz="4800" b="0"/>
            </a:pPr>
            <a:r>
              <a:rPr dirty="0" err="1"/>
              <a:t>PentestGPT</a:t>
            </a:r>
            <a:r>
              <a:rPr dirty="0"/>
              <a:t> Demo</a:t>
            </a:r>
          </a:p>
          <a:p>
            <a:pPr marL="888999" indent="-888999">
              <a:lnSpc>
                <a:spcPct val="150000"/>
              </a:lnSpc>
              <a:buSzPct val="100000"/>
              <a:buAutoNum type="arabicPeriod"/>
              <a:defRPr sz="4800" b="0"/>
            </a:pPr>
            <a:r>
              <a:rPr dirty="0"/>
              <a:t>References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1. What are LLMs?"/>
          <p:cNvSpPr txBox="1">
            <a:spLocks noGrp="1"/>
          </p:cNvSpPr>
          <p:nvPr>
            <p:ph type="title"/>
          </p:nvPr>
        </p:nvSpPr>
        <p:spPr>
          <a:prstGeom prst="rect">
            <a:avLst/>
          </a:prstGeom>
        </p:spPr>
        <p:txBody>
          <a:bodyPr/>
          <a:lstStyle/>
          <a:p>
            <a:r>
              <a:rPr dirty="0"/>
              <a:t>1. What are </a:t>
            </a:r>
            <a:r>
              <a:rPr dirty="0">
                <a:solidFill>
                  <a:srgbClr val="B9A3FF"/>
                </a:solidFill>
              </a:rPr>
              <a:t>LLMs</a:t>
            </a:r>
            <a:r>
              <a:rPr dirty="0"/>
              <a:t>?</a:t>
            </a:r>
          </a:p>
        </p:txBody>
      </p:sp>
      <p:sp>
        <p:nvSpPr>
          <p:cNvPr id="168" name="(Side Note: They are pretty cool)"/>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(Side Note: They are pretty cool)</a:t>
            </a:r>
          </a:p>
        </p:txBody>
      </p:sp>
      <p:sp>
        <p:nvSpPr>
          <p:cNvPr id="169" name="LLMs (Large Language Models) are advanced machine learning models, specifically designed to understand and generate human-like text based on the input they receive. (That’s what google says)…"/>
          <p:cNvSpPr txBox="1">
            <a:spLocks noGrp="1"/>
          </p:cNvSpPr>
          <p:nvPr>
            <p:ph type="body" idx="1"/>
          </p:nvPr>
        </p:nvSpPr>
        <p:spPr>
          <a:prstGeom prst="rect">
            <a:avLst/>
          </a:prstGeom>
        </p:spPr>
        <p:txBody>
          <a:bodyPr/>
          <a:lstStyle/>
          <a:p>
            <a:pPr defTabSz="2438338">
              <a:spcBef>
                <a:spcPts val="4500"/>
              </a:spcBef>
              <a:defRPr sz="4800" spc="0"/>
            </a:pPr>
            <a:r>
              <a:rPr dirty="0">
                <a:solidFill>
                  <a:srgbClr val="B9A3FF"/>
                </a:solidFill>
              </a:rPr>
              <a:t>LLMs (Large Language Models)</a:t>
            </a:r>
            <a:r>
              <a:rPr dirty="0"/>
              <a:t> are advanced machine learning models, specifically designed to </a:t>
            </a:r>
            <a:r>
              <a:rPr u="sng" dirty="0"/>
              <a:t>understand</a:t>
            </a:r>
            <a:r>
              <a:rPr dirty="0"/>
              <a:t> and </a:t>
            </a:r>
            <a:r>
              <a:rPr u="sng" dirty="0"/>
              <a:t>generate human-like</a:t>
            </a:r>
            <a:r>
              <a:rPr dirty="0"/>
              <a:t> text based on the input they receive. (That’s what google says)</a:t>
            </a:r>
          </a:p>
          <a:p>
            <a:pPr defTabSz="2438338">
              <a:spcBef>
                <a:spcPts val="4500"/>
              </a:spcBef>
              <a:defRPr sz="4800" spc="0"/>
            </a:pPr>
            <a:r>
              <a:rPr dirty="0"/>
              <a:t>What does </a:t>
            </a:r>
            <a:r>
              <a:rPr b="1" dirty="0"/>
              <a:t>Large</a:t>
            </a:r>
            <a:r>
              <a:rPr dirty="0"/>
              <a:t> Mean?</a:t>
            </a:r>
          </a:p>
          <a:p>
            <a:pPr defTabSz="2438338">
              <a:spcBef>
                <a:spcPts val="4500"/>
              </a:spcBef>
              <a:defRPr sz="4800" spc="0"/>
            </a:pPr>
            <a:r>
              <a:rPr dirty="0"/>
              <a:t>Basically the number of parameters they have decides how large a language model is.</a:t>
            </a:r>
            <a:endParaRPr lang="en-IN" dirty="0"/>
          </a:p>
          <a:p>
            <a:pPr defTabSz="2438338">
              <a:spcBef>
                <a:spcPts val="4500"/>
              </a:spcBef>
              <a:defRPr sz="4800" spc="0"/>
            </a:pPr>
            <a:r>
              <a:rPr lang="en-GB" dirty="0"/>
              <a:t>Examples: OpenAI’s GPT series, Google’s Gemini, and Meta’s </a:t>
            </a:r>
            <a:r>
              <a:rPr lang="en-GB" dirty="0" err="1"/>
              <a:t>LLaMA</a:t>
            </a:r>
            <a:r>
              <a:rPr lang="en-GB" dirty="0"/>
              <a:t>.</a:t>
            </a:r>
            <a:endParaRPr dirty="0"/>
          </a:p>
          <a:p>
            <a:pPr defTabSz="2438338">
              <a:spcBef>
                <a:spcPts val="4500"/>
              </a:spcBef>
              <a:defRPr sz="4800" spc="0"/>
            </a:pPr>
            <a:r>
              <a:rPr dirty="0"/>
              <a:t>Now the next question arises…..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How are LLMs so cool knowledgeable and know everything (almost)?"/>
          <p:cNvSpPr txBox="1">
            <a:spLocks noGrp="1"/>
          </p:cNvSpPr>
          <p:nvPr>
            <p:ph type="body" sz="half" idx="1"/>
          </p:nvPr>
        </p:nvSpPr>
        <p:spPr>
          <a:prstGeom prst="rect">
            <a:avLst/>
          </a:prstGeom>
        </p:spPr>
        <p:txBody>
          <a:bodyPr/>
          <a:lstStyle/>
          <a:p>
            <a:pPr defTabSz="2145738">
              <a:lnSpc>
                <a:spcPct val="120000"/>
              </a:lnSpc>
              <a:defRPr sz="10208" spc="-204"/>
            </a:pPr>
            <a:r>
              <a:rPr dirty="0"/>
              <a:t>How are LLMs so </a:t>
            </a:r>
            <a:r>
              <a:rPr strike="sngStrike" dirty="0">
                <a:solidFill>
                  <a:srgbClr val="CDCDCD"/>
                </a:solidFill>
                <a:latin typeface="Helvetica Neue Light"/>
                <a:ea typeface="Helvetica Neue Light"/>
                <a:cs typeface="Helvetica Neue Light"/>
                <a:sym typeface="Helvetica Neue Light"/>
              </a:rPr>
              <a:t>cool</a:t>
            </a:r>
            <a:r>
              <a:rPr dirty="0"/>
              <a:t> knowledgeable and know everything (almost)?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he answer is Training on Data"/>
          <p:cNvSpPr txBox="1">
            <a:spLocks noGrp="1"/>
          </p:cNvSpPr>
          <p:nvPr>
            <p:ph type="body" sz="half" idx="1"/>
          </p:nvPr>
        </p:nvSpPr>
        <p:spPr>
          <a:xfrm>
            <a:off x="1206499" y="1698079"/>
            <a:ext cx="21971001" cy="3874314"/>
          </a:xfrm>
          <a:prstGeom prst="rect">
            <a:avLst/>
          </a:prstGeom>
        </p:spPr>
        <p:txBody>
          <a:bodyPr/>
          <a:lstStyle>
            <a:lvl1pPr>
              <a:lnSpc>
                <a:spcPct val="120000"/>
              </a:lnSpc>
            </a:lvl1pPr>
          </a:lstStyle>
          <a:p>
            <a:r>
              <a:rPr dirty="0"/>
              <a:t>The answer is Training on Data</a:t>
            </a:r>
          </a:p>
        </p:txBody>
      </p:sp>
      <p:sp>
        <p:nvSpPr>
          <p:cNvPr id="174" name="LLMs are trained on vast amounts of text data from the internet, which enables them to generate coherent, diverse, and contextually relevant text passages.…"/>
          <p:cNvSpPr txBox="1"/>
          <p:nvPr/>
        </p:nvSpPr>
        <p:spPr>
          <a:xfrm>
            <a:off x="1206499" y="5355901"/>
            <a:ext cx="22175756" cy="60286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pPr>
              <a:spcBef>
                <a:spcPts val="4500"/>
              </a:spcBef>
              <a:defRPr sz="4800"/>
            </a:pPr>
            <a:r>
              <a:rPr dirty="0"/>
              <a:t>LLMs are trained on vast amounts of text data from the internet, which enables them to generate coherent, diverse, and contextually relevant text passages.</a:t>
            </a:r>
          </a:p>
          <a:p>
            <a:pPr>
              <a:spcBef>
                <a:spcPts val="4500"/>
              </a:spcBef>
              <a:defRPr sz="4800"/>
            </a:pPr>
            <a:endParaRPr dirty="0"/>
          </a:p>
          <a:p>
            <a:pPr>
              <a:spcBef>
                <a:spcPts val="4500"/>
              </a:spcBef>
              <a:defRPr sz="4800"/>
            </a:pPr>
            <a:r>
              <a:rPr dirty="0"/>
              <a:t>You can think of LLMs as a function which accepts text input and understands the context from the input provided and outputs the relevant understanding it has of the input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2. What is Pentesting &amp; Need of LLMs in Pentesting?"/>
          <p:cNvSpPr txBox="1">
            <a:spLocks noGrp="1"/>
          </p:cNvSpPr>
          <p:nvPr>
            <p:ph type="title"/>
          </p:nvPr>
        </p:nvSpPr>
        <p:spPr>
          <a:xfrm>
            <a:off x="1063162" y="1696479"/>
            <a:ext cx="22257676" cy="1697154"/>
          </a:xfrm>
          <a:prstGeom prst="rect">
            <a:avLst/>
          </a:prstGeom>
        </p:spPr>
        <p:txBody>
          <a:bodyPr/>
          <a:lstStyle/>
          <a:p>
            <a:pPr defTabSz="2072588">
              <a:defRPr sz="7225" spc="-144"/>
            </a:pPr>
            <a:r>
              <a:rPr dirty="0"/>
              <a:t>2. What is </a:t>
            </a:r>
            <a:r>
              <a:rPr dirty="0" err="1">
                <a:solidFill>
                  <a:srgbClr val="8EFF71"/>
                </a:solidFill>
              </a:rPr>
              <a:t>Pentesting</a:t>
            </a:r>
            <a:r>
              <a:rPr dirty="0"/>
              <a:t> &amp; Need of LLMs in </a:t>
            </a:r>
            <a:r>
              <a:rPr dirty="0" err="1"/>
              <a:t>Pentesting</a:t>
            </a:r>
            <a:r>
              <a:rPr dirty="0"/>
              <a:t>?</a:t>
            </a:r>
          </a:p>
        </p:txBody>
      </p:sp>
      <p:sp>
        <p:nvSpPr>
          <p:cNvPr id="177" name="Goal of Pentesting is to identify vulnerabilities, weaknesses, and potential entry points that real hackers might exploit.…"/>
          <p:cNvSpPr txBox="1">
            <a:spLocks noGrp="1"/>
          </p:cNvSpPr>
          <p:nvPr>
            <p:ph type="body" idx="1"/>
          </p:nvPr>
        </p:nvSpPr>
        <p:spPr>
          <a:xfrm>
            <a:off x="1206499" y="3821962"/>
            <a:ext cx="21971001" cy="8256012"/>
          </a:xfrm>
          <a:prstGeom prst="rect">
            <a:avLst/>
          </a:prstGeom>
        </p:spPr>
        <p:txBody>
          <a:bodyPr/>
          <a:lstStyle/>
          <a:p>
            <a:pPr defTabSz="2267655">
              <a:spcBef>
                <a:spcPts val="4100"/>
              </a:spcBef>
              <a:defRPr sz="4464" spc="0"/>
            </a:pPr>
            <a:r>
              <a:rPr dirty="0"/>
              <a:t>Goal of </a:t>
            </a:r>
            <a:r>
              <a:rPr dirty="0" err="1">
                <a:solidFill>
                  <a:srgbClr val="8EFF71"/>
                </a:solidFill>
              </a:rPr>
              <a:t>Pentesting</a:t>
            </a:r>
            <a:r>
              <a:rPr dirty="0"/>
              <a:t> is to identify vulnerabilities, weaknesses, and potential entry points that real hackers might exploit.</a:t>
            </a:r>
          </a:p>
          <a:p>
            <a:pPr defTabSz="2267655">
              <a:spcBef>
                <a:spcPts val="4100"/>
              </a:spcBef>
              <a:defRPr sz="4464" spc="0"/>
            </a:pPr>
            <a:r>
              <a:rPr dirty="0"/>
              <a:t>So where do LLMs come in this picture of </a:t>
            </a:r>
            <a:r>
              <a:rPr dirty="0" err="1"/>
              <a:t>Pentesting</a:t>
            </a:r>
            <a:r>
              <a:rPr dirty="0"/>
              <a:t> &amp; Cybersecurity? </a:t>
            </a:r>
          </a:p>
          <a:p>
            <a:pPr marL="566927" indent="-566927" defTabSz="2267655">
              <a:spcBef>
                <a:spcPts val="4100"/>
              </a:spcBef>
              <a:buSzPct val="123000"/>
              <a:buChar char="•"/>
              <a:defRPr sz="3906" spc="0"/>
            </a:pPr>
            <a:r>
              <a:rPr dirty="0"/>
              <a:t>Automation and Scalability (We hackers are lazy)</a:t>
            </a:r>
          </a:p>
          <a:p>
            <a:pPr marL="566927" indent="-566927" defTabSz="2267655">
              <a:spcBef>
                <a:spcPts val="4100"/>
              </a:spcBef>
              <a:buSzPct val="123000"/>
              <a:buChar char="•"/>
              <a:defRPr sz="3906" spc="0"/>
            </a:pPr>
            <a:r>
              <a:rPr dirty="0"/>
              <a:t>Adaptive Testing ( Testing strategies based on feedback)</a:t>
            </a:r>
          </a:p>
          <a:p>
            <a:pPr marL="566927" indent="-566927" defTabSz="2267655">
              <a:spcBef>
                <a:spcPts val="4100"/>
              </a:spcBef>
              <a:buSzPct val="123000"/>
              <a:buChar char="•"/>
              <a:defRPr sz="3906" spc="0"/>
            </a:pPr>
            <a:r>
              <a:rPr dirty="0"/>
              <a:t>Data Analysis (</a:t>
            </a:r>
            <a:r>
              <a:rPr dirty="0" err="1"/>
              <a:t>Analysing</a:t>
            </a:r>
            <a:r>
              <a:rPr dirty="0"/>
              <a:t> Tool Data)</a:t>
            </a:r>
          </a:p>
          <a:p>
            <a:pPr marL="566927" indent="-566927" defTabSz="2267655">
              <a:spcBef>
                <a:spcPts val="4100"/>
              </a:spcBef>
              <a:buSzPct val="123000"/>
              <a:buChar char="•"/>
              <a:defRPr sz="3906" spc="0"/>
            </a:pPr>
            <a:r>
              <a:rPr dirty="0"/>
              <a:t>Documentation &amp; Reporting (Summarizing, Generating reports)</a:t>
            </a:r>
          </a:p>
          <a:p>
            <a:pPr defTabSz="2267655">
              <a:spcBef>
                <a:spcPts val="4100"/>
              </a:spcBef>
              <a:defRPr sz="3906" spc="0"/>
            </a:pPr>
            <a:r>
              <a:rPr dirty="0"/>
              <a:t>And many more in the coming future…</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What if there was something that could do some of the things above?"/>
          <p:cNvSpPr txBox="1">
            <a:spLocks noGrp="1"/>
          </p:cNvSpPr>
          <p:nvPr>
            <p:ph type="body" sz="half" idx="1"/>
          </p:nvPr>
        </p:nvSpPr>
        <p:spPr>
          <a:prstGeom prst="rect">
            <a:avLst/>
          </a:prstGeom>
        </p:spPr>
        <p:txBody>
          <a:bodyPr/>
          <a:lstStyle>
            <a:lvl1pPr defTabSz="2267655">
              <a:defRPr sz="10788" spc="-215"/>
            </a:lvl1pPr>
          </a:lstStyle>
          <a:p>
            <a:r>
              <a:rPr dirty="0"/>
              <a:t>What if there was something that could do some of the things above?</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3. Intro to PentestGPT"/>
          <p:cNvSpPr txBox="1">
            <a:spLocks noGrp="1"/>
          </p:cNvSpPr>
          <p:nvPr>
            <p:ph type="title"/>
          </p:nvPr>
        </p:nvSpPr>
        <p:spPr>
          <a:prstGeom prst="rect">
            <a:avLst/>
          </a:prstGeom>
        </p:spPr>
        <p:txBody>
          <a:bodyPr/>
          <a:lstStyle/>
          <a:p>
            <a:r>
              <a:rPr dirty="0"/>
              <a:t>3. Intro to </a:t>
            </a:r>
            <a:r>
              <a:rPr dirty="0" err="1">
                <a:solidFill>
                  <a:schemeClr val="accent1">
                    <a:lumOff val="13575"/>
                  </a:schemeClr>
                </a:solidFill>
              </a:rPr>
              <a:t>PentestGPT</a:t>
            </a:r>
            <a:endParaRPr dirty="0">
              <a:solidFill>
                <a:schemeClr val="accent1">
                  <a:lumOff val="13575"/>
                </a:schemeClr>
              </a:solidFill>
            </a:endParaRPr>
          </a:p>
        </p:txBody>
      </p:sp>
      <p:sp>
        <p:nvSpPr>
          <p:cNvPr id="182" name="PentestGPT is a penetration testing tool empowered by Large Language Models (LLMs). It is designed to automate the penetration testing process. It is built on top of ChatGPT and operate in an interactive mode to guide penetration testers in both overall "/>
          <p:cNvSpPr txBox="1">
            <a:spLocks noGrp="1"/>
          </p:cNvSpPr>
          <p:nvPr>
            <p:ph type="body" idx="1"/>
          </p:nvPr>
        </p:nvSpPr>
        <p:spPr>
          <a:xfrm>
            <a:off x="1206499" y="3182148"/>
            <a:ext cx="21971001" cy="8256012"/>
          </a:xfrm>
          <a:prstGeom prst="rect">
            <a:avLst/>
          </a:prstGeom>
        </p:spPr>
        <p:txBody>
          <a:bodyPr/>
          <a:lstStyle/>
          <a:p>
            <a:pPr defTabSz="2316421">
              <a:lnSpc>
                <a:spcPct val="120000"/>
              </a:lnSpc>
              <a:spcBef>
                <a:spcPts val="4200"/>
              </a:spcBef>
              <a:defRPr sz="4560" spc="0"/>
            </a:pPr>
            <a:r>
              <a:rPr dirty="0" err="1">
                <a:solidFill>
                  <a:schemeClr val="accent1">
                    <a:lumOff val="13575"/>
                  </a:schemeClr>
                </a:solidFill>
              </a:rPr>
              <a:t>PentestGPT</a:t>
            </a:r>
            <a:r>
              <a:rPr dirty="0"/>
              <a:t> is a penetration testing tool empowered by Large Language Models (LLMs). It is designed to automate the penetration testing process. It is built on top of ChatGPT and operate in an interactive mode to guide penetration testers in both overall progress and specific operations.</a:t>
            </a:r>
          </a:p>
          <a:p>
            <a:pPr defTabSz="2316421">
              <a:lnSpc>
                <a:spcPct val="120000"/>
              </a:lnSpc>
              <a:spcBef>
                <a:spcPts val="4200"/>
              </a:spcBef>
              <a:defRPr sz="4560" spc="0"/>
            </a:pPr>
            <a:r>
              <a:rPr dirty="0" err="1"/>
              <a:t>PentestGPT</a:t>
            </a:r>
            <a:r>
              <a:rPr dirty="0"/>
              <a:t> helps us achieve two things very well:</a:t>
            </a:r>
          </a:p>
          <a:p>
            <a:pPr marL="579119" indent="-579119" defTabSz="2316421">
              <a:spcBef>
                <a:spcPts val="4200"/>
              </a:spcBef>
              <a:buSzPct val="123000"/>
              <a:buChar char="•"/>
              <a:defRPr sz="3989" spc="0"/>
            </a:pPr>
            <a:r>
              <a:rPr dirty="0"/>
              <a:t>Adaptive Testing ( Testing strategies based on feedback)</a:t>
            </a:r>
          </a:p>
          <a:p>
            <a:pPr marL="579119" indent="-579119" defTabSz="2316421">
              <a:spcBef>
                <a:spcPts val="4200"/>
              </a:spcBef>
              <a:buSzPct val="123000"/>
              <a:buChar char="•"/>
              <a:defRPr sz="3989" spc="0"/>
            </a:pPr>
            <a:r>
              <a:rPr dirty="0"/>
              <a:t>Data Analysis (</a:t>
            </a:r>
            <a:r>
              <a:rPr dirty="0" err="1"/>
              <a:t>Analysing</a:t>
            </a:r>
            <a:r>
              <a:rPr dirty="0"/>
              <a:t> Tool Data)</a:t>
            </a:r>
          </a:p>
          <a:p>
            <a:pPr defTabSz="2316421">
              <a:spcBef>
                <a:spcPts val="4200"/>
              </a:spcBef>
              <a:defRPr sz="3989" spc="0"/>
            </a:pPr>
            <a:r>
              <a:rPr dirty="0"/>
              <a:t>It can also to an extent help us crack a </a:t>
            </a:r>
            <a:r>
              <a:rPr dirty="0" err="1"/>
              <a:t>TryHackMe</a:t>
            </a:r>
            <a:r>
              <a:rPr dirty="0"/>
              <a:t> Box</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entestGPT Demo"/>
          <p:cNvSpPr txBox="1">
            <a:spLocks noGrp="1"/>
          </p:cNvSpPr>
          <p:nvPr>
            <p:ph type="body" sz="half" idx="1"/>
          </p:nvPr>
        </p:nvSpPr>
        <p:spPr>
          <a:prstGeom prst="rect">
            <a:avLst/>
          </a:prstGeom>
        </p:spPr>
        <p:txBody>
          <a:bodyPr/>
          <a:lstStyle/>
          <a:p>
            <a:r>
              <a:rPr>
                <a:solidFill>
                  <a:schemeClr val="accent1">
                    <a:lumOff val="13575"/>
                  </a:schemeClr>
                </a:solidFill>
              </a:rPr>
              <a:t>PentestGPT</a:t>
            </a:r>
            <a:r>
              <a:t> Demo</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Research more on LLMs online maybe even create one.…"/>
          <p:cNvSpPr txBox="1">
            <a:spLocks noGrp="1"/>
          </p:cNvSpPr>
          <p:nvPr>
            <p:ph type="title"/>
          </p:nvPr>
        </p:nvSpPr>
        <p:spPr>
          <a:xfrm>
            <a:off x="1118007" y="2895637"/>
            <a:ext cx="22003306" cy="1802275"/>
          </a:xfrm>
          <a:prstGeom prst="rect">
            <a:avLst/>
          </a:prstGeom>
        </p:spPr>
        <p:txBody>
          <a:bodyPr/>
          <a:lstStyle/>
          <a:p>
            <a:pPr defTabSz="1950671">
              <a:lnSpc>
                <a:spcPct val="100000"/>
              </a:lnSpc>
              <a:spcBef>
                <a:spcPts val="3600"/>
              </a:spcBef>
              <a:defRPr sz="3840" b="0" spc="0"/>
            </a:pPr>
            <a:r>
              <a:rPr dirty="0"/>
              <a:t>Research more on LLMs online maybe even create one.</a:t>
            </a:r>
          </a:p>
          <a:p>
            <a:pPr defTabSz="1950671">
              <a:lnSpc>
                <a:spcPct val="100000"/>
              </a:lnSpc>
              <a:spcBef>
                <a:spcPts val="3600"/>
              </a:spcBef>
              <a:defRPr sz="3840" b="0" spc="0"/>
            </a:pPr>
            <a:r>
              <a:rPr dirty="0"/>
              <a:t>Try out </a:t>
            </a:r>
            <a:r>
              <a:rPr dirty="0" err="1"/>
              <a:t>PentestGPT</a:t>
            </a:r>
            <a:r>
              <a:rPr dirty="0"/>
              <a:t> yourself and play with the prompts, see what  prompts give you directed results.</a:t>
            </a:r>
          </a:p>
        </p:txBody>
      </p:sp>
      <p:pic>
        <p:nvPicPr>
          <p:cNvPr id="191" name="meme.png" descr="meme.png"/>
          <p:cNvPicPr>
            <a:picLocks noChangeAspect="1"/>
          </p:cNvPicPr>
          <p:nvPr/>
        </p:nvPicPr>
        <p:blipFill>
          <a:blip r:embed="rId2"/>
          <a:stretch>
            <a:fillRect/>
          </a:stretch>
        </p:blipFill>
        <p:spPr>
          <a:xfrm>
            <a:off x="7507903" y="5190647"/>
            <a:ext cx="10590836" cy="7704834"/>
          </a:xfrm>
          <a:prstGeom prst="rect">
            <a:avLst/>
          </a:prstGeom>
          <a:ln w="12700">
            <a:miter lim="400000"/>
          </a:ln>
        </p:spPr>
      </p:pic>
      <p:sp>
        <p:nvSpPr>
          <p:cNvPr id="192" name="How do I learn more about LLMs and Pentesting"/>
          <p:cNvSpPr txBox="1">
            <a:spLocks noGrp="1"/>
          </p:cNvSpPr>
          <p:nvPr>
            <p:ph type="body" sz="quarter" idx="1"/>
          </p:nvPr>
        </p:nvSpPr>
        <p:spPr>
          <a:xfrm>
            <a:off x="1113147" y="696253"/>
            <a:ext cx="22639602" cy="2416313"/>
          </a:xfrm>
          <a:prstGeom prst="rect">
            <a:avLst/>
          </a:prstGeom>
        </p:spPr>
        <p:txBody>
          <a:bodyPr anchor="ctr"/>
          <a:lstStyle>
            <a:lvl1pPr defTabSz="2438338">
              <a:lnSpc>
                <a:spcPct val="80000"/>
              </a:lnSpc>
              <a:spcBef>
                <a:spcPts val="0"/>
              </a:spcBef>
              <a:defRPr sz="8000" b="1" spc="-159"/>
            </a:lvl1pPr>
          </a:lstStyle>
          <a:p>
            <a:r>
              <a:t>How do I learn more about LLMs and Pentesting</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1" nodeType="clickEffect">
                                  <p:stCondLst>
                                    <p:cond delay="0"/>
                                  </p:stCondLst>
                                  <p:iterate>
                                    <p:tmAbs val="0"/>
                                  </p:iterate>
                                  <p:childTnLst>
                                    <p:set>
                                      <p:cBhvr>
                                        <p:cTn id="6" fill="hold"/>
                                        <p:tgtEl>
                                          <p:spTgt spid="191"/>
                                        </p:tgtEl>
                                        <p:attrNameLst>
                                          <p:attrName>style.visibility</p:attrName>
                                        </p:attrNameLst>
                                      </p:cBhvr>
                                      <p:to>
                                        <p:strVal val="visible"/>
                                      </p:to>
                                    </p:set>
                                    <p:anim calcmode="lin" valueType="num">
                                      <p:cBhvr>
                                        <p:cTn id="7" dur="500" fill="hold"/>
                                        <p:tgtEl>
                                          <p:spTgt spid="191"/>
                                        </p:tgtEl>
                                        <p:attrNameLst>
                                          <p:attrName>ppt_w</p:attrName>
                                        </p:attrNameLst>
                                      </p:cBhvr>
                                      <p:tavLst>
                                        <p:tav tm="0">
                                          <p:val>
                                            <p:fltVal val="0"/>
                                          </p:val>
                                        </p:tav>
                                        <p:tav tm="100000">
                                          <p:val>
                                            <p:strVal val="#ppt_w"/>
                                          </p:val>
                                        </p:tav>
                                      </p:tavLst>
                                    </p:anim>
                                    <p:anim calcmode="lin" valueType="num">
                                      <p:cBhvr>
                                        <p:cTn id="8" dur="500" fill="hold"/>
                                        <p:tgtEl>
                                          <p:spTgt spid="19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1"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References"/>
          <p:cNvSpPr txBox="1">
            <a:spLocks noGrp="1"/>
          </p:cNvSpPr>
          <p:nvPr>
            <p:ph type="title"/>
          </p:nvPr>
        </p:nvSpPr>
        <p:spPr>
          <a:xfrm>
            <a:off x="1206500" y="4610100"/>
            <a:ext cx="21971000" cy="1435100"/>
          </a:xfrm>
          <a:prstGeom prst="rect">
            <a:avLst/>
          </a:prstGeom>
        </p:spPr>
        <p:txBody>
          <a:bodyPr>
            <a:normAutofit/>
          </a:bodyPr>
          <a:lstStyle/>
          <a:p>
            <a:r>
              <a:rPr sz="6600" dirty="0"/>
              <a:t>References</a:t>
            </a:r>
            <a:r>
              <a:rPr lang="en-IN" sz="6600" dirty="0"/>
              <a:t> :</a:t>
            </a:r>
            <a:endParaRPr sz="6600" dirty="0"/>
          </a:p>
        </p:txBody>
      </p:sp>
      <p:sp>
        <p:nvSpPr>
          <p:cNvPr id="196" name="PentestGPT (https://github.com/GreyDGL/PentestGPT)…"/>
          <p:cNvSpPr txBox="1"/>
          <p:nvPr/>
        </p:nvSpPr>
        <p:spPr>
          <a:xfrm>
            <a:off x="1206500" y="6045200"/>
            <a:ext cx="20629634" cy="31170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609600" indent="-609600" algn="l">
              <a:lnSpc>
                <a:spcPct val="120000"/>
              </a:lnSpc>
              <a:spcBef>
                <a:spcPts val="4500"/>
              </a:spcBef>
              <a:buSzPct val="123000"/>
              <a:buChar char="•"/>
              <a:defRPr sz="4800"/>
            </a:pPr>
            <a:r>
              <a:rPr dirty="0" err="1"/>
              <a:t>PentestGPT</a:t>
            </a:r>
            <a:r>
              <a:rPr dirty="0"/>
              <a:t> (</a:t>
            </a:r>
            <a:r>
              <a:rPr u="sng" dirty="0">
                <a:hlinkClick r:id="rId2"/>
              </a:rPr>
              <a:t>https://github.com/GreyDGL/PentestGPT</a:t>
            </a:r>
            <a:r>
              <a:rPr dirty="0"/>
              <a:t>)</a:t>
            </a:r>
          </a:p>
          <a:p>
            <a:pPr marL="609600" indent="-609600" algn="l">
              <a:lnSpc>
                <a:spcPct val="120000"/>
              </a:lnSpc>
              <a:spcBef>
                <a:spcPts val="4500"/>
              </a:spcBef>
              <a:buSzPct val="123000"/>
              <a:buChar char="•"/>
              <a:defRPr sz="4800"/>
            </a:pPr>
            <a:r>
              <a:rPr dirty="0"/>
              <a:t>Wikipedia (</a:t>
            </a:r>
            <a:r>
              <a:rPr u="sng" dirty="0">
                <a:hlinkClick r:id="rId3"/>
              </a:rPr>
              <a:t>https://en.wikipedia.org/wiki/Large_language_model</a:t>
            </a:r>
            <a:r>
              <a:rPr dirty="0"/>
              <a:t>)</a:t>
            </a:r>
          </a:p>
        </p:txBody>
      </p:sp>
      <p:sp>
        <p:nvSpPr>
          <p:cNvPr id="4" name="TextBox 3">
            <a:extLst>
              <a:ext uri="{FF2B5EF4-FFF2-40B4-BE49-F238E27FC236}">
                <a16:creationId xmlns:a16="http://schemas.microsoft.com/office/drawing/2014/main" id="{414206AD-8298-0A13-56F4-4BD2C12709A5}"/>
              </a:ext>
            </a:extLst>
          </p:cNvPr>
          <p:cNvSpPr txBox="1"/>
          <p:nvPr/>
        </p:nvSpPr>
        <p:spPr>
          <a:xfrm>
            <a:off x="1206500" y="1557596"/>
            <a:ext cx="9004853"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IN" sz="8800" b="1" i="0" u="none" strike="noStrike" cap="none" spc="0" normalizeH="0" baseline="0" dirty="0">
                <a:ln>
                  <a:noFill/>
                </a:ln>
                <a:solidFill>
                  <a:srgbClr val="FFFFFF"/>
                </a:solidFill>
                <a:effectLst/>
                <a:uFillTx/>
                <a:latin typeface="+mn-lt"/>
                <a:ea typeface="+mn-ea"/>
                <a:cs typeface="+mn-cs"/>
                <a:sym typeface="Helvetica Neue"/>
              </a:rPr>
              <a:t>Thank you!</a:t>
            </a:r>
          </a:p>
        </p:txBody>
      </p:sp>
      <p:sp>
        <p:nvSpPr>
          <p:cNvPr id="6" name="TextBox 5">
            <a:extLst>
              <a:ext uri="{FF2B5EF4-FFF2-40B4-BE49-F238E27FC236}">
                <a16:creationId xmlns:a16="http://schemas.microsoft.com/office/drawing/2014/main" id="{F3DB6BA8-3700-4B7D-79FE-A73D7771BB17}"/>
              </a:ext>
            </a:extLst>
          </p:cNvPr>
          <p:cNvSpPr txBox="1"/>
          <p:nvPr/>
        </p:nvSpPr>
        <p:spPr>
          <a:xfrm>
            <a:off x="2683565" y="10597347"/>
            <a:ext cx="17691653"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GB" sz="4400" b="0" i="0" u="none" strike="noStrike" cap="none" spc="0" normalizeH="0" baseline="0" dirty="0">
                <a:ln>
                  <a:noFill/>
                </a:ln>
                <a:solidFill>
                  <a:srgbClr val="FFFFFF"/>
                </a:solidFill>
                <a:effectLst/>
                <a:uFillTx/>
                <a:latin typeface="+mn-lt"/>
                <a:ea typeface="+mn-ea"/>
                <a:cs typeface="+mn-cs"/>
                <a:sym typeface="Helvetica Neue"/>
              </a:rPr>
              <a:t>"As threats evolve, the fusion of human intelligence with AI capabilities will shape the future of penetration testing."</a:t>
            </a:r>
            <a:endParaRPr kumimoji="0" lang="en-IN" sz="4400" b="0" i="0" u="none" strike="noStrike" cap="none" spc="0" normalizeH="0" baseline="0" dirty="0">
              <a:ln>
                <a:noFill/>
              </a:ln>
              <a:solidFill>
                <a:srgbClr val="FFFFFF"/>
              </a:solidFill>
              <a:effectLst/>
              <a:uFillTx/>
              <a:latin typeface="+mn-lt"/>
              <a:ea typeface="+mn-ea"/>
              <a:cs typeface="+mn-cs"/>
              <a:sym typeface="Helvetica Neue"/>
            </a:endParaRPr>
          </a:p>
        </p:txBody>
      </p:sp>
    </p:spTree>
  </p:cSld>
  <p:clrMapOvr>
    <a:masterClrMapping/>
  </p:clrMapOvr>
  <p:transition spd="med"/>
</p:sld>
</file>

<file path=ppt/theme/theme1.xml><?xml version="1.0" encoding="utf-8"?>
<a:theme xmlns:a="http://schemas.openxmlformats.org/drawingml/2006/main"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230</TotalTime>
  <Words>510</Words>
  <Application>Microsoft Office PowerPoint</Application>
  <PresentationFormat>Custom</PresentationFormat>
  <Paragraphs>50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Helvetica Neue</vt:lpstr>
      <vt:lpstr>Helvetica Neue Light</vt:lpstr>
      <vt:lpstr>Helvetica Neue Medium</vt:lpstr>
      <vt:lpstr>20_BasicBlack</vt:lpstr>
      <vt:lpstr>AI &amp; Penetration Testing</vt:lpstr>
      <vt:lpstr>What are we going to look at  In this session?</vt:lpstr>
      <vt:lpstr>1. What are LLMs?</vt:lpstr>
      <vt:lpstr>PowerPoint Presentation</vt:lpstr>
      <vt:lpstr>PowerPoint Presentation</vt:lpstr>
      <vt:lpstr>2. What is Pentesting &amp; Need of LLMs in Pentesting?</vt:lpstr>
      <vt:lpstr>PowerPoint Presentation</vt:lpstr>
      <vt:lpstr>3. Intro to PentestGPT</vt:lpstr>
      <vt:lpstr>PowerPoint Presentation</vt:lpstr>
      <vt:lpstr>Research more on LLMs online maybe even create one. Try out PentestGPT yourself and play with the prompts, see what  prompts give you directed results.</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SISA Vishnu Sudhakaran</cp:lastModifiedBy>
  <cp:revision>11</cp:revision>
  <dcterms:modified xsi:type="dcterms:W3CDTF">2024-11-21T08:42:50Z</dcterms:modified>
</cp:coreProperties>
</file>